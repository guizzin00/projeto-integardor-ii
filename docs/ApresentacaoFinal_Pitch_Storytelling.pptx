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9" r:id="rId2"/>
    <p:sldId id="268" r:id="rId3"/>
    <p:sldId id="267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56" r:id="rId12"/>
    <p:sldId id="257" r:id="rId13"/>
    <p:sldId id="258" r:id="rId14"/>
    <p:sldId id="259" r:id="rId15"/>
    <p:sldId id="260" r:id="rId16"/>
    <p:sldId id="261" r:id="rId17"/>
    <p:sldId id="263" r:id="rId18"/>
    <p:sldId id="264" r:id="rId19"/>
    <p:sldId id="265" r:id="rId20"/>
    <p:sldId id="266" r:id="rId21"/>
    <p:sldId id="26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Estilo Escuro 1 - Ênfas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25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39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58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2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0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74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55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81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13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48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04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D0EE541-191F-412C-A420-E9ED3250F66D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7052B1-80FF-440F-9649-5CE2E95BF874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8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pedica/SISCPTI/tree/feature/cadastro-usuario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jopedica/SISCPTI" TargetMode="External"/><Relationship Id="rId4" Type="http://schemas.openxmlformats.org/officeDocument/2006/relationships/hyperlink" Target="https://siscpti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36FFC-355C-57CB-51F3-0F48D173E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STORYTELLING - SISCPTI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05BF4D-9221-32B5-C284-FFF656F86C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2" descr="Central da Marca | CEUB">
            <a:extLst>
              <a:ext uri="{FF2B5EF4-FFF2-40B4-BE49-F238E27FC236}">
                <a16:creationId xmlns:a16="http://schemas.microsoft.com/office/drawing/2014/main" id="{A6D1D8F7-7AC3-49F9-BAC1-EFFBEDB2F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814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82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96B3492-1F78-21E4-A78F-E5128DED91A3}"/>
              </a:ext>
            </a:extLst>
          </p:cNvPr>
          <p:cNvSpPr txBox="1"/>
          <p:nvPr/>
        </p:nvSpPr>
        <p:spPr>
          <a:xfrm>
            <a:off x="2927646" y="2705725"/>
            <a:ext cx="933556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800" dirty="0"/>
              <a:t>Era uma vez, </a:t>
            </a:r>
          </a:p>
        </p:txBody>
      </p:sp>
    </p:spTree>
    <p:extLst>
      <p:ext uri="{BB962C8B-B14F-4D97-AF65-F5344CB8AC3E}">
        <p14:creationId xmlns:p14="http://schemas.microsoft.com/office/powerpoint/2010/main" val="132945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467B67-DF03-651A-3BBC-8C8BE52F7F1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798" y="940409"/>
            <a:ext cx="10058400" cy="40227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/>
              <a:t>No </a:t>
            </a:r>
            <a:r>
              <a:rPr lang="pt-BR" sz="2400" b="1" dirty="0"/>
              <a:t>UniCEUB</a:t>
            </a:r>
            <a:r>
              <a:rPr lang="pt-BR" sz="2400" dirty="0"/>
              <a:t>, no início do segundo semestre deste ano, um grupo de alunos — </a:t>
            </a:r>
            <a:r>
              <a:rPr lang="pt-BR" sz="2400" b="1" dirty="0"/>
              <a:t>João Pedro, Paulo Victor, Guilherme Gouveia, Davi Guimarães, Arthur Grangeiro e Daniel Ferreira </a:t>
            </a:r>
            <a:r>
              <a:rPr lang="pt-BR" sz="2400" dirty="0"/>
              <a:t>— começando mais um Projeto Integrador.</a:t>
            </a:r>
          </a:p>
        </p:txBody>
      </p:sp>
      <p:pic>
        <p:nvPicPr>
          <p:cNvPr id="1028" name="Picture 4" descr="Esqueletos Dançando Ciranda Cirandinha">
            <a:extLst>
              <a:ext uri="{FF2B5EF4-FFF2-40B4-BE49-F238E27FC236}">
                <a16:creationId xmlns:a16="http://schemas.microsoft.com/office/drawing/2014/main" id="{772E9DA4-990E-9099-D5BC-DF89A253F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235" y="3100790"/>
            <a:ext cx="4581525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91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436D-6949-C9AF-D9DE-05F92B851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EDB11746-D030-3591-D747-A539224395CE}"/>
              </a:ext>
            </a:extLst>
          </p:cNvPr>
          <p:cNvSpPr txBox="1">
            <a:spLocks/>
          </p:cNvSpPr>
          <p:nvPr/>
        </p:nvSpPr>
        <p:spPr>
          <a:xfrm>
            <a:off x="1066798" y="940409"/>
            <a:ext cx="10058400" cy="40227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2400" dirty="0"/>
              <a:t>Todo dia, eles buscavam uma ideia que realmente fizesse sentido, que não fosse apenas “mais um projeto”, mas algo que pudesse gerar impacto real.</a:t>
            </a:r>
          </a:p>
        </p:txBody>
      </p:sp>
      <p:pic>
        <p:nvPicPr>
          <p:cNvPr id="8194" name="Picture 2" descr="Looking Around Lost GIF - Looking Around Lost Glitch - Discover &amp; Share GIFs">
            <a:extLst>
              <a:ext uri="{FF2B5EF4-FFF2-40B4-BE49-F238E27FC236}">
                <a16:creationId xmlns:a16="http://schemas.microsoft.com/office/drawing/2014/main" id="{06B884E6-291C-1935-C144-E4992449D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712" y="2732696"/>
            <a:ext cx="3076575" cy="296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05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F7C7F-3198-0E42-3B87-87FD726E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EB232C7A-E3BD-169F-0539-665FC6BF1295}"/>
              </a:ext>
            </a:extLst>
          </p:cNvPr>
          <p:cNvSpPr txBox="1">
            <a:spLocks/>
          </p:cNvSpPr>
          <p:nvPr/>
        </p:nvSpPr>
        <p:spPr>
          <a:xfrm>
            <a:off x="1066798" y="940409"/>
            <a:ext cx="10058400" cy="40227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2400" dirty="0"/>
              <a:t>Até que então, ao explorar o Caderno de Projetos de TI, encontraram o projeto </a:t>
            </a:r>
            <a:r>
              <a:rPr lang="pt-BR" sz="2400" dirty="0" err="1"/>
              <a:t>SisCPTI</a:t>
            </a:r>
            <a:r>
              <a:rPr lang="pt-BR" sz="2400" dirty="0"/>
              <a:t>. Perceberam que ali havia uma oportunidade única: criar algo que realmente agregasse valor para toda a faculdade.</a:t>
            </a:r>
          </a:p>
        </p:txBody>
      </p:sp>
      <p:pic>
        <p:nvPicPr>
          <p:cNvPr id="7174" name="Picture 6" descr="The Emotions of Booking Your Trip As Told By Disney Characters">
            <a:extLst>
              <a:ext uri="{FF2B5EF4-FFF2-40B4-BE49-F238E27FC236}">
                <a16:creationId xmlns:a16="http://schemas.microsoft.com/office/drawing/2014/main" id="{CF649CBF-9070-2B5E-F232-4C51C87B5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23" y="3314700"/>
            <a:ext cx="3924302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75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7C47-39ED-542C-4CE3-D47E8970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A31C5C94-B2E4-9A6B-6559-8A8F08E209C0}"/>
              </a:ext>
            </a:extLst>
          </p:cNvPr>
          <p:cNvSpPr txBox="1">
            <a:spLocks/>
          </p:cNvSpPr>
          <p:nvPr/>
        </p:nvSpPr>
        <p:spPr>
          <a:xfrm>
            <a:off x="1066798" y="940409"/>
            <a:ext cx="10058400" cy="40227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2400" dirty="0"/>
              <a:t>E por causa disso, decidiram abraçar o desafio e começaram um levantamento de requisitos com alunos, professores e coordenação.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159A097-9006-2956-77E9-68ED53616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662" y="2479675"/>
            <a:ext cx="6249038" cy="311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768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32645-2FA0-EE41-3B26-EAE3ED4A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1EBE13FD-3F54-6988-B6D8-6F3394691B6B}"/>
              </a:ext>
            </a:extLst>
          </p:cNvPr>
          <p:cNvSpPr txBox="1">
            <a:spLocks/>
          </p:cNvSpPr>
          <p:nvPr/>
        </p:nvSpPr>
        <p:spPr>
          <a:xfrm>
            <a:off x="1066798" y="940409"/>
            <a:ext cx="10058400" cy="40227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2400" dirty="0"/>
              <a:t>E por causa disso, descobriram dores reais, estruturaram o problema e começaram a dar vida ao projeto através do Documento de Visão, mapas e definição do MVP.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B51CC7C-EBD3-F28D-E33F-DB9E61CC7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675" y="3060879"/>
            <a:ext cx="4114800" cy="285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apa empatia alunos">
            <a:extLst>
              <a:ext uri="{FF2B5EF4-FFF2-40B4-BE49-F238E27FC236}">
                <a16:creationId xmlns:a16="http://schemas.microsoft.com/office/drawing/2014/main" id="{F7542FAC-0E6A-46D4-A20A-070D3005A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8" y="3060879"/>
            <a:ext cx="4041337" cy="282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56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2F14F-E6C7-0766-0F2F-740C049D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A41D9D4-7153-E1BF-ED73-9B50D1652703}"/>
              </a:ext>
            </a:extLst>
          </p:cNvPr>
          <p:cNvSpPr txBox="1">
            <a:spLocks/>
          </p:cNvSpPr>
          <p:nvPr/>
        </p:nvSpPr>
        <p:spPr>
          <a:xfrm>
            <a:off x="1066798" y="940409"/>
            <a:ext cx="10058400" cy="40227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2400" dirty="0"/>
              <a:t>E por causa disso, avançaram para pesquisas de campo, arquitetura, validações, protótipo — transformando a ideia em algo concreto, visual e útil.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B05CDD4-6CF2-AFCE-4333-DAE22BF7C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1875"/>
            <a:ext cx="12192000" cy="247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1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C9E0F-26F2-8F34-47B8-603774F0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0636468-439C-6DB4-7D97-13B915CF4FFF}"/>
              </a:ext>
            </a:extLst>
          </p:cNvPr>
          <p:cNvSpPr txBox="1">
            <a:spLocks/>
          </p:cNvSpPr>
          <p:nvPr/>
        </p:nvSpPr>
        <p:spPr>
          <a:xfrm>
            <a:off x="1066798" y="940409"/>
            <a:ext cx="10058400" cy="40227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2400" dirty="0"/>
              <a:t>Até que finalmente, após semanas de dedicação, apresentaram o protótipo completo e navegável do </a:t>
            </a:r>
            <a:r>
              <a:rPr lang="pt-BR" sz="2400" dirty="0" err="1"/>
              <a:t>SisCPTI</a:t>
            </a:r>
            <a:r>
              <a:rPr lang="pt-BR" sz="2400" dirty="0"/>
              <a:t>, marcando a conclusão do PI I.</a:t>
            </a:r>
          </a:p>
        </p:txBody>
      </p:sp>
      <p:pic>
        <p:nvPicPr>
          <p:cNvPr id="3074" name="Picture 2" descr="Work Is Done GIFs | Tenor">
            <a:extLst>
              <a:ext uri="{FF2B5EF4-FFF2-40B4-BE49-F238E27FC236}">
                <a16:creationId xmlns:a16="http://schemas.microsoft.com/office/drawing/2014/main" id="{A959B9E4-FEB6-0D66-14FD-FF3B90201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0" y="2662238"/>
            <a:ext cx="3695700" cy="273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296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EFDBF-AE95-27F4-3536-6F0FEB0D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71099CD-3CD5-9F4F-1131-23B9E2771232}"/>
              </a:ext>
            </a:extLst>
          </p:cNvPr>
          <p:cNvSpPr txBox="1">
            <a:spLocks/>
          </p:cNvSpPr>
          <p:nvPr/>
        </p:nvSpPr>
        <p:spPr>
          <a:xfrm>
            <a:off x="1066798" y="940409"/>
            <a:ext cx="10058400" cy="40227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2400" dirty="0"/>
              <a:t>E desde então, o grupo segue motivado, sabendo que esta é apenas a primeira etapa de um projeto maior — que ainda vai crescer muito e gerar benefícios para toda a comunidade do UniCEUB.</a:t>
            </a:r>
          </a:p>
        </p:txBody>
      </p:sp>
      <p:pic>
        <p:nvPicPr>
          <p:cNvPr id="2050" name="Picture 2" descr="Accion De GIF - Accion De Gracias - Discover &amp; Share GIFs">
            <a:extLst>
              <a:ext uri="{FF2B5EF4-FFF2-40B4-BE49-F238E27FC236}">
                <a16:creationId xmlns:a16="http://schemas.microsoft.com/office/drawing/2014/main" id="{B39A93D4-F265-632A-C9CA-A3718B3A1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5" y="2907691"/>
            <a:ext cx="300990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699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E48EA-246F-47D3-9B2E-5E20DE0D4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49" y="997540"/>
            <a:ext cx="10058400" cy="3566160"/>
          </a:xfrm>
        </p:spPr>
        <p:txBody>
          <a:bodyPr/>
          <a:lstStyle/>
          <a:p>
            <a:r>
              <a:rPr lang="pt-BR" dirty="0"/>
              <a:t>SISCPTI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D80F87-19DC-4851-8E81-CBEADCB8E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4551" y="3992200"/>
            <a:ext cx="10058400" cy="1143000"/>
          </a:xfrm>
        </p:spPr>
        <p:txBody>
          <a:bodyPr/>
          <a:lstStyle/>
          <a:p>
            <a:r>
              <a:rPr lang="pt-BR" dirty="0"/>
              <a:t>Caderno de Gestão de Projetos</a:t>
            </a:r>
          </a:p>
        </p:txBody>
      </p:sp>
      <p:pic>
        <p:nvPicPr>
          <p:cNvPr id="1026" name="Picture 2" descr="Central da Marca | CEUB">
            <a:extLst>
              <a:ext uri="{FF2B5EF4-FFF2-40B4-BE49-F238E27FC236}">
                <a16:creationId xmlns:a16="http://schemas.microsoft.com/office/drawing/2014/main" id="{573BAFEB-E429-4B19-AB37-C74FC952A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814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6FF9071-44EE-4CA9-B003-DF165DC27250}"/>
              </a:ext>
            </a:extLst>
          </p:cNvPr>
          <p:cNvSpPr txBox="1"/>
          <p:nvPr/>
        </p:nvSpPr>
        <p:spPr>
          <a:xfrm>
            <a:off x="8783322" y="137636"/>
            <a:ext cx="3373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+mj-lt"/>
              </a:rPr>
              <a:t>JOÃO PEDRO DIAS ; 22208380</a:t>
            </a:r>
          </a:p>
          <a:p>
            <a:pPr algn="just"/>
            <a:r>
              <a:rPr lang="pt-BR" dirty="0">
                <a:latin typeface="+mj-lt"/>
              </a:rPr>
              <a:t>GUILHERME GOUVEIA ; 22506744</a:t>
            </a:r>
          </a:p>
          <a:p>
            <a:pPr algn="just"/>
            <a:r>
              <a:rPr lang="pt-BR" dirty="0">
                <a:latin typeface="+mj-lt"/>
              </a:rPr>
              <a:t>PAULO VICTOR SOUZA ; 22453680</a:t>
            </a:r>
          </a:p>
          <a:p>
            <a:pPr algn="just"/>
            <a:r>
              <a:rPr lang="pt-BR" dirty="0">
                <a:latin typeface="+mj-lt"/>
              </a:rPr>
              <a:t>DAVI GUIMARÃES ; 22503048</a:t>
            </a:r>
          </a:p>
          <a:p>
            <a:pPr algn="just"/>
            <a:r>
              <a:rPr lang="pt-BR" dirty="0">
                <a:latin typeface="+mj-lt"/>
              </a:rPr>
              <a:t>ARTHUR GRANGEIRO ; 22454475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381C4A-2DC9-4095-B415-3B75F1EB1E2E}"/>
              </a:ext>
            </a:extLst>
          </p:cNvPr>
          <p:cNvSpPr txBox="1"/>
          <p:nvPr/>
        </p:nvSpPr>
        <p:spPr>
          <a:xfrm>
            <a:off x="7567352" y="65356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+mj-lt"/>
              </a:rPr>
              <a:t>FATECS – Análise e Desenvolvimento de Sistemas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3D5F34-8B67-433A-A395-B847AA8E9664}"/>
              </a:ext>
            </a:extLst>
          </p:cNvPr>
          <p:cNvSpPr txBox="1"/>
          <p:nvPr/>
        </p:nvSpPr>
        <p:spPr>
          <a:xfrm>
            <a:off x="6162732" y="6535698"/>
            <a:ext cx="1404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+mj-lt"/>
              </a:rPr>
              <a:t>3º Semestre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F7B0243-931B-CFCB-D4A0-D1973BFDC836}"/>
              </a:ext>
            </a:extLst>
          </p:cNvPr>
          <p:cNvSpPr txBox="1"/>
          <p:nvPr/>
        </p:nvSpPr>
        <p:spPr>
          <a:xfrm>
            <a:off x="1238247" y="4545334"/>
            <a:ext cx="99202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Transformando a maneira como o UniCEUB organiza, acompanha e evolui seus projetos acadêmicos de TI.</a:t>
            </a:r>
          </a:p>
        </p:txBody>
      </p:sp>
    </p:spTree>
    <p:extLst>
      <p:ext uri="{BB962C8B-B14F-4D97-AF65-F5344CB8AC3E}">
        <p14:creationId xmlns:p14="http://schemas.microsoft.com/office/powerpoint/2010/main" val="3498479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C34F1-A0C5-4BF5-BA46-8170F21B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SISCPTI – 1º FASE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178C62-DD20-42A4-B7F9-82A741E00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62865"/>
            <a:ext cx="10058400" cy="399743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/>
              <a:t>Nesta etapa inicial, iniciamos o protótipo para substituir o modelo antigo – baseado em um documento Word – por uma plataforma digital integrada, padronizada e simples de usar.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A7C11B-5097-C0AD-6FA9-60F2ACFA6A48}"/>
              </a:ext>
            </a:extLst>
          </p:cNvPr>
          <p:cNvSpPr txBox="1"/>
          <p:nvPr/>
        </p:nvSpPr>
        <p:spPr>
          <a:xfrm>
            <a:off x="1036319" y="3679643"/>
            <a:ext cx="9164955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Centralizamos informações.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Organizamos trilhas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Propomos mais autonomia aos alunos e gestores</a:t>
            </a:r>
          </a:p>
        </p:txBody>
      </p:sp>
    </p:spTree>
    <p:extLst>
      <p:ext uri="{BB962C8B-B14F-4D97-AF65-F5344CB8AC3E}">
        <p14:creationId xmlns:p14="http://schemas.microsoft.com/office/powerpoint/2010/main" val="3677641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809F904-E3DF-43AF-9A45-2D8741C6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E76127F-ECEC-4462-A118-DA636D599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PT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atual modelo do Caderno de Projetos é baseado em um documento estático, gerando:</a:t>
            </a:r>
          </a:p>
          <a:p>
            <a:pPr algn="just">
              <a:lnSpc>
                <a:spcPct val="150000"/>
              </a:lnSpc>
            </a:pPr>
            <a:endParaRPr lang="pt-PT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CF2543-E888-19AE-F3AE-DAA0DDC325AA}"/>
              </a:ext>
            </a:extLst>
          </p:cNvPr>
          <p:cNvSpPr txBox="1"/>
          <p:nvPr/>
        </p:nvSpPr>
        <p:spPr>
          <a:xfrm>
            <a:off x="1097280" y="3139414"/>
            <a:ext cx="9997440" cy="279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Dificuldade para acompanhar evolução de cada projeto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Re-trabalho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constante ao atualizar versões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Processos manuais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Guias dispersos, sem centralização das informações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Impacto direto:</a:t>
            </a:r>
            <a:r>
              <a:rPr lang="pt-BR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perda de tempo, inconsistências e pouca visibilidade gerencial sobre os projetos.</a:t>
            </a:r>
          </a:p>
        </p:txBody>
      </p:sp>
    </p:spTree>
    <p:extLst>
      <p:ext uri="{BB962C8B-B14F-4D97-AF65-F5344CB8AC3E}">
        <p14:creationId xmlns:p14="http://schemas.microsoft.com/office/powerpoint/2010/main" val="4183775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37A75-C3E1-492B-8023-71775BEC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Consequências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81FD123-D3FA-0C8B-724A-6EA4B1E8D54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1846263"/>
            <a:ext cx="10058400" cy="316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Professores gastam até 40% mais tempo corrigindo documentos não padronizados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Estudantes enfrentam dúvidas desnecessárias pela quantidade de informação descentralizada no documento.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Coordenação não consegue ter indicadores de desempenho em tempo real.</a:t>
            </a:r>
          </a:p>
        </p:txBody>
      </p:sp>
    </p:spTree>
    <p:extLst>
      <p:ext uri="{BB962C8B-B14F-4D97-AF65-F5344CB8AC3E}">
        <p14:creationId xmlns:p14="http://schemas.microsoft.com/office/powerpoint/2010/main" val="2270541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DECC081-5612-DF0C-431C-CC2982A8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Oportunidade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50CDF4-27EE-4ACE-AA1E-D8102EAD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48037"/>
            <a:ext cx="10058400" cy="40233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2400" dirty="0"/>
              <a:t>Com a expansão do TI no UniCEUB e o crescimento dos </a:t>
            </a:r>
            <a:r>
              <a:rPr lang="pt-BR" sz="2400" dirty="0" err="1"/>
              <a:t>PIs</a:t>
            </a:r>
            <a:r>
              <a:rPr lang="pt-BR" sz="24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400" dirty="0"/>
              <a:t>Existe espaço para </a:t>
            </a:r>
            <a:r>
              <a:rPr lang="pt-BR" sz="2400" b="1" dirty="0"/>
              <a:t>modernizar, padronizar e centralizar</a:t>
            </a:r>
            <a:r>
              <a:rPr lang="pt-BR" sz="2400" dirty="0"/>
              <a:t> todo o ciclo de projetos.</a:t>
            </a:r>
            <a:endParaRPr lang="pt-PT" sz="2400" spc="-1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1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4FE92-A697-463B-8636-763B8A0A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solução: SISCPTI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9D7950-AD3C-4D20-8AF1-B52AD0269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plataforma web integrada para gerenciar todo o ciclo do Caderno de Projetos, com: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851F4BB-E6FE-27A7-AFA6-DCA2049C770A}"/>
              </a:ext>
            </a:extLst>
          </p:cNvPr>
          <p:cNvSpPr txBox="1"/>
          <p:nvPr/>
        </p:nvSpPr>
        <p:spPr>
          <a:xfrm>
            <a:off x="1097280" y="3209480"/>
            <a:ext cx="10227425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Cadastro e acompanhamento digital;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Modelos padrão de documentos dentro do sistema;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Dashboard para administrador;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Facilidade pro usuário para submeter interesse;</a:t>
            </a:r>
          </a:p>
        </p:txBody>
      </p:sp>
    </p:spTree>
    <p:extLst>
      <p:ext uri="{BB962C8B-B14F-4D97-AF65-F5344CB8AC3E}">
        <p14:creationId xmlns:p14="http://schemas.microsoft.com/office/powerpoint/2010/main" val="3022867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83202-94E0-42A8-9A02-576B82FA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 para os alunos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18146F-CF62-1199-C747-E23E196F97C9}"/>
              </a:ext>
            </a:extLst>
          </p:cNvPr>
          <p:cNvSpPr txBox="1"/>
          <p:nvPr/>
        </p:nvSpPr>
        <p:spPr>
          <a:xfrm>
            <a:off x="1097280" y="2491634"/>
            <a:ext cx="1022742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Acesso mais rápido e direcionado aos projetos do caderno;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Menos tempo procurando orientações;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Maior clareza sobre prazos, entregas e evolução;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373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3A6D-5FEA-46CF-BAA9-1001B98D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 para o gestor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94370E-9685-08D4-5A2F-96A32AAC17E9}"/>
              </a:ext>
            </a:extLst>
          </p:cNvPr>
          <p:cNvSpPr txBox="1"/>
          <p:nvPr/>
        </p:nvSpPr>
        <p:spPr>
          <a:xfrm>
            <a:off x="1097280" y="2491634"/>
            <a:ext cx="10227425" cy="268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Padronização dos modelos de PI;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Correção até 35% mais rápida;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Visão global dos projetos ativos do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UniCeub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Maior controle sobre o caderno;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352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E32E4-564B-47D8-9BFC-16D614CF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Indicadores e Resultados Esperados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FF7627-7F98-415D-921E-551C68867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FEB9985-127C-462D-C9C3-CAD61B66B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683254"/>
              </p:ext>
            </p:extLst>
          </p:nvPr>
        </p:nvGraphicFramePr>
        <p:xfrm>
          <a:off x="1230595" y="2445917"/>
          <a:ext cx="9925086" cy="18897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308362">
                  <a:extLst>
                    <a:ext uri="{9D8B030D-6E8A-4147-A177-3AD203B41FA5}">
                      <a16:colId xmlns:a16="http://schemas.microsoft.com/office/drawing/2014/main" val="29021098"/>
                    </a:ext>
                  </a:extLst>
                </a:gridCol>
                <a:gridCol w="3308362">
                  <a:extLst>
                    <a:ext uri="{9D8B030D-6E8A-4147-A177-3AD203B41FA5}">
                      <a16:colId xmlns:a16="http://schemas.microsoft.com/office/drawing/2014/main" val="3518256285"/>
                    </a:ext>
                  </a:extLst>
                </a:gridCol>
                <a:gridCol w="3308362">
                  <a:extLst>
                    <a:ext uri="{9D8B030D-6E8A-4147-A177-3AD203B41FA5}">
                      <a16:colId xmlns:a16="http://schemas.microsoft.com/office/drawing/2014/main" val="3699069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INDICADOR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SEM SISTEMA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COM </a:t>
                      </a:r>
                      <a:r>
                        <a:rPr lang="pt-BR" sz="2000" dirty="0" err="1"/>
                        <a:t>SisCPTI</a:t>
                      </a:r>
                      <a:endParaRPr lang="pt-BR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6712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Tempo médio para montar um 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15/20min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5min (↓42%)</a:t>
                      </a:r>
                      <a:endParaRPr lang="pt-BR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Retrabalho do professor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15% (↓62%)</a:t>
                      </a:r>
                      <a:endParaRPr lang="pt-BR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0876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Engajamento dos alunos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Baixo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+55%</a:t>
                      </a:r>
                      <a:endParaRPr lang="pt-BR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037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299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91882-989F-421D-AE78-E3B94056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Visão de Futuro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72FAA-2286-4AA7-95FE-E1925A57C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 O </a:t>
            </a:r>
            <a:r>
              <a:rPr lang="pt-BR" sz="2400" dirty="0" err="1"/>
              <a:t>SisCPTI</a:t>
            </a:r>
            <a:r>
              <a:rPr lang="pt-BR" sz="2400" dirty="0"/>
              <a:t> abre caminho para:</a:t>
            </a:r>
          </a:p>
          <a:p>
            <a:br>
              <a:rPr lang="pt-BR" dirty="0"/>
            </a:b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BEED15-62FE-9264-167E-8E567C02F7A0}"/>
              </a:ext>
            </a:extLst>
          </p:cNvPr>
          <p:cNvSpPr txBox="1"/>
          <p:nvPr/>
        </p:nvSpPr>
        <p:spPr>
          <a:xfrm>
            <a:off x="1012767" y="2542909"/>
            <a:ext cx="10227425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Integração com GitHub,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Notion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Google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Auth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Banco de projetos destaques para empresas parceiras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Inteligência Artificial para sugerir melhorias no projeto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Indicadores para avaliações institucionais (MEC)</a:t>
            </a:r>
            <a:endParaRPr lang="pt-BR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926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D33442-D148-4775-BF80-91F053E57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A1FA86-4393-4187-BFA2-826BB2AF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pt-BR" dirty="0"/>
              <a:t>Protótipo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194A92-C70B-7B10-ED06-F6511051A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46" y="645106"/>
            <a:ext cx="5274118" cy="52477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EF2C47-53DA-4F9F-918A-F6057C8EB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7FD62-9D26-4BEA-8C8F-4D5F8737B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br>
              <a:rPr lang="pt-BR" b="0" i="0" dirty="0">
                <a:effectLst/>
                <a:latin typeface="-apple-system"/>
              </a:rPr>
            </a:br>
            <a:endParaRPr lang="pt-BR" dirty="0">
              <a:hlinkClick r:id="rId3"/>
            </a:endParaRPr>
          </a:p>
          <a:p>
            <a:r>
              <a:rPr lang="pt-BR" dirty="0">
                <a:hlinkClick r:id="rId4"/>
              </a:rPr>
              <a:t>https://siscpti.vercel.app/</a:t>
            </a:r>
            <a:endParaRPr lang="pt-BR" dirty="0"/>
          </a:p>
          <a:p>
            <a:r>
              <a:rPr lang="pt-BR" dirty="0">
                <a:hlinkClick r:id="rId5"/>
              </a:rPr>
              <a:t>https://github.com/jopedica/SISCPTI</a:t>
            </a:r>
            <a:endParaRPr lang="pt-B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5E068D-E677-4E1B-8CE2-8CE1826A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AD6E12-8A58-4D86-AACD-D58C4B256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40102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310</TotalTime>
  <Words>704</Words>
  <Application>Microsoft Office PowerPoint</Application>
  <PresentationFormat>Widescreen</PresentationFormat>
  <Paragraphs>81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-apple-system</vt:lpstr>
      <vt:lpstr>Calibri</vt:lpstr>
      <vt:lpstr>Calibri Light</vt:lpstr>
      <vt:lpstr>Wingdings</vt:lpstr>
      <vt:lpstr>Retrospectiva</vt:lpstr>
      <vt:lpstr>STORYTELLING - SISCPTI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SISCPTI </vt:lpstr>
      <vt:lpstr>SISCPTI – 1º FASE DO PROJETO</vt:lpstr>
      <vt:lpstr>O Problema</vt:lpstr>
      <vt:lpstr>Consequências</vt:lpstr>
      <vt:lpstr>Oportunidade</vt:lpstr>
      <vt:lpstr>A solução: SISCPTI</vt:lpstr>
      <vt:lpstr>Benefícios para os alunos</vt:lpstr>
      <vt:lpstr>Benefícios para o gestor</vt:lpstr>
      <vt:lpstr>Indicadores e Resultados Esperados</vt:lpstr>
      <vt:lpstr>Visão de Futuro</vt:lpstr>
      <vt:lpstr>Protótipo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SISCPTI</dc:title>
  <dc:creator>CEUB</dc:creator>
  <cp:lastModifiedBy>João Pedro Dias Carvalho</cp:lastModifiedBy>
  <cp:revision>16</cp:revision>
  <dcterms:created xsi:type="dcterms:W3CDTF">2025-11-05T12:00:35Z</dcterms:created>
  <dcterms:modified xsi:type="dcterms:W3CDTF">2025-12-03T12:06:13Z</dcterms:modified>
</cp:coreProperties>
</file>